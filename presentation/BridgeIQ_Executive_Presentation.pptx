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BRIDGEIQ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F8EF7"/>
                </a:solidFill>
              </a:rPr>
              <a:t>AI-Powered Business Intelligence &amp; Process 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Apex Solutions · Technical BA Portfolio Project · Sai Hemanth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03504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D6D7E"/>
                </a:solidFill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F8EF7"/>
                </a:solidFill>
              </a:rPr>
              <a:t>Apex Solutions is losing customers faster than it's acquiring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BridgeIQ — AI-Powered Business Intelligence &amp; Process Transformation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105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</a:rPr>
              <a:t>Slide 2 / 10  |  Apex Solutions  |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5486400" cy="2011680"/>
          </a:xfrm>
          <a:prstGeom prst="rect">
            <a:avLst/>
          </a:prstGeom>
          <a:noFill/>
          <a:ln w="127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1280160" cy="201168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737360"/>
            <a:ext cx="11338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38988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Annual Churn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810512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D6D7E"/>
                </a:solidFill>
              </a:rPr>
              <a:t>Industry benchmark: 5-7%. Each 1% = ~$150K ARR lost.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5486400" cy="2011680"/>
          </a:xfrm>
          <a:prstGeom prst="rect">
            <a:avLst/>
          </a:prstGeom>
          <a:noFill/>
          <a:ln w="12700">
            <a:solidFill>
              <a:srgbClr val="D69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280160"/>
            <a:ext cx="1280160" cy="2011680"/>
          </a:xfrm>
          <a:prstGeom prst="rect">
            <a:avLst/>
          </a:prstGeom>
          <a:solidFill>
            <a:srgbClr val="D69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737360"/>
            <a:ext cx="11338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80" y="138988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Onboarding Failure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80" y="1810512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D6D7E"/>
                </a:solidFill>
              </a:rPr>
              <a:t>Incomplete onboarding customers churn at 2.4x the rate of completed ones.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57600"/>
            <a:ext cx="5486400" cy="2011680"/>
          </a:xfrm>
          <a:prstGeom prst="rect">
            <a:avLst/>
          </a:prstGeom>
          <a:noFill/>
          <a:ln w="12700">
            <a:solidFill>
              <a:srgbClr val="D69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657600"/>
            <a:ext cx="1280160" cy="2011680"/>
          </a:xfrm>
          <a:prstGeom prst="rect">
            <a:avLst/>
          </a:prstGeom>
          <a:solidFill>
            <a:srgbClr val="D69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4114800"/>
            <a:ext cx="11338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28 hrs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376732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Avg Ticket Resolution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4187952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D6D7E"/>
                </a:solidFill>
              </a:rPr>
              <a:t>Critical SLA breach rate exceeds 35%. Support volume growing 18% YoY.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657600"/>
            <a:ext cx="5486400" cy="2011680"/>
          </a:xfrm>
          <a:prstGeom prst="rect">
            <a:avLst/>
          </a:prstGeom>
          <a:noFill/>
          <a:ln w="127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3657600"/>
            <a:ext cx="1280160" cy="201168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4114800"/>
            <a:ext cx="11338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80" y="376732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Predictive Signals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80" y="4187952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D6D7E"/>
                </a:solidFill>
              </a:rPr>
              <a:t>No automated system to identify at-risk customers before they cancel.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F8EF7"/>
                </a:solidFill>
              </a:rPr>
              <a:t>BridgeIQ — Three integrated capabilities that work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BridgeIQ — AI-Powered Business Intelligence &amp; Process Transformation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105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</a:rPr>
              <a:t>Slide 3 / 10  |  Apex Solutions  |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3566160" cy="3200400"/>
          </a:xfrm>
          <a:prstGeom prst="rect">
            <a:avLst/>
          </a:prstGeom>
          <a:noFill/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3566160" cy="5486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6187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01  Customer Intelligence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74519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D6D7E"/>
                </a:solidFill>
              </a:rPr>
              <a:t>Composite health scoring from 6 signals. Daily automated computation. At-risk flag with Slack/email alert before customer churns.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234440"/>
            <a:ext cx="3566160" cy="3200400"/>
          </a:xfrm>
          <a:prstGeom prst="rect">
            <a:avLst/>
          </a:prstGeom>
          <a:noFill/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234440"/>
            <a:ext cx="3566160" cy="54864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26187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02  Onboarding 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874519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D6D7E"/>
                </a:solidFill>
              </a:rPr>
              <a:t>5-stage structured workflow with SLA tracking, blocker logging, and automated escalation when customers go silent.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234440"/>
            <a:ext cx="3566160" cy="3200400"/>
          </a:xfrm>
          <a:prstGeom prst="rect">
            <a:avLst/>
          </a:prstGeom>
          <a:noFill/>
          <a:ln w="12700">
            <a:solidFill>
              <a:srgbClr val="2E8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234440"/>
            <a:ext cx="3566160" cy="548640"/>
          </a:xfrm>
          <a:prstGeom prst="rect">
            <a:avLst/>
          </a:prstGeom>
          <a:solidFill>
            <a:srgbClr val="2E8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26187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03  AI Feedback &amp; Requirements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1874519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D6D7E"/>
                </a:solidFill>
              </a:rPr>
              <a:t>Unstructured feedback analyzed at scale. Pain points ranked by business impact. User stories auto-generated in Agile format.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663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D6D7E"/>
                </a:solidFill>
              </a:rPr>
              <a:t>Underpinned by: 6 data tables | 10+ SQL queries | Live Plotly dashboard | Claude AI API | Python + Streamlit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Business Baseline — Current State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F8EF7"/>
                </a:solidFill>
              </a:rPr>
              <a:t>Data-driven diagnosis from 500 customers, 4K tickets, 8K usage events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BridgeIQ — AI-Powered Business Intelligence &amp; Process Transformation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105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</a:rPr>
              <a:t>Slide 4 / 10  |  Apex Solutions  |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2697480" cy="1554480"/>
          </a:xfrm>
          <a:prstGeom prst="rect">
            <a:avLst/>
          </a:prstGeom>
          <a:solidFill>
            <a:srgbClr val="F0F4FF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2801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</a:rPr>
              <a:t>Active 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6002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5C"/>
                </a:solidFill>
              </a:rPr>
              <a:t>390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2402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D6D7E"/>
                </a:solidFill>
              </a:rPr>
              <a:t>of 500 total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188720"/>
            <a:ext cx="2697480" cy="1554480"/>
          </a:xfrm>
          <a:prstGeom prst="rect">
            <a:avLst/>
          </a:prstGeom>
          <a:solidFill>
            <a:srgbClr val="F0F4FF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0128" y="12801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</a:rPr>
              <a:t>Total MRR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16002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5C"/>
                </a:solidFill>
              </a:rPr>
              <a:t>$1.24M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22402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D6D7E"/>
                </a:solidFill>
              </a:rPr>
              <a:t>across 3 plan tiers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188720"/>
            <a:ext cx="2697480" cy="1554480"/>
          </a:xfrm>
          <a:prstGeom prst="rect">
            <a:avLst/>
          </a:prstGeom>
          <a:solidFill>
            <a:srgbClr val="F0F4FF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8" y="12801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</a:rPr>
              <a:t>Churn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16002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5C"/>
                </a:solidFill>
              </a:rPr>
              <a:t>22%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22402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D6D7E"/>
                </a:solidFill>
              </a:rPr>
              <a:t>110 customers lost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1188720"/>
            <a:ext cx="2697480" cy="1554480"/>
          </a:xfrm>
          <a:prstGeom prst="rect">
            <a:avLst/>
          </a:prstGeom>
          <a:solidFill>
            <a:srgbClr val="F0F4FF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62288" y="12801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</a:rPr>
              <a:t>Avg Health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2288" y="16002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5C"/>
                </a:solidFill>
              </a:rPr>
              <a:t>76.2 / 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22402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D6D7E"/>
                </a:solidFill>
              </a:rPr>
              <a:t>active customers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017520"/>
            <a:ext cx="2697480" cy="1554480"/>
          </a:xfrm>
          <a:prstGeom prst="rect">
            <a:avLst/>
          </a:prstGeom>
          <a:solidFill>
            <a:srgbClr val="F0F4FF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31089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</a:rPr>
              <a:t>Open Tickets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34290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5C"/>
                </a:solidFill>
              </a:rPr>
              <a:t>1,000+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406907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D6D7E"/>
                </a:solidFill>
              </a:rPr>
              <a:t>unresolved backlog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3017520"/>
            <a:ext cx="2697480" cy="1554480"/>
          </a:xfrm>
          <a:prstGeom prst="rect">
            <a:avLst/>
          </a:prstGeom>
          <a:solidFill>
            <a:srgbClr val="F0F4FF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10128" y="31089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</a:rPr>
              <a:t>Onboarding Done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10128" y="34290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5C"/>
                </a:solidFill>
              </a:rPr>
              <a:t>82%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10128" y="406907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D6D7E"/>
                </a:solidFill>
              </a:rPr>
              <a:t>90 stuck mid-process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3017520"/>
            <a:ext cx="2697480" cy="1554480"/>
          </a:xfrm>
          <a:prstGeom prst="rect">
            <a:avLst/>
          </a:prstGeom>
          <a:solidFill>
            <a:srgbClr val="F0F4FF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6208" y="31089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</a:rPr>
              <a:t>Avg Resolution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8" y="34290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5C"/>
                </a:solidFill>
              </a:rPr>
              <a:t>28 hrs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6208" y="406907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D6D7E"/>
                </a:solidFill>
              </a:rPr>
              <a:t>Critical SLA: 35% breach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52560" y="3017520"/>
            <a:ext cx="2697480" cy="1554480"/>
          </a:xfrm>
          <a:prstGeom prst="rect">
            <a:avLst/>
          </a:prstGeom>
          <a:solidFill>
            <a:srgbClr val="F0F4FF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62288" y="31089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</a:rPr>
              <a:t>At-Risk Customers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62288" y="34290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5C"/>
                </a:solidFill>
              </a:rPr>
              <a:t>47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406907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D6D7E"/>
                </a:solidFill>
              </a:rPr>
              <a:t>score &gt;= 50, still active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Process Redesign — AS-IS vs TO-BE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F8EF7"/>
                </a:solidFill>
              </a:rPr>
              <a:t>Churn detection &amp; customer health monitoring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BridgeIQ — AI-Powered Business Intelligence &amp; Process Transformation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105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</a:rPr>
              <a:t>Slide 5 / 10  |  Apex Solutions  |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394960" cy="5029200"/>
          </a:xfrm>
          <a:prstGeom prst="rect">
            <a:avLst/>
          </a:prstGeom>
          <a:solidFill>
            <a:srgbClr val="FFF0F0"/>
          </a:solidFill>
          <a:ln w="127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3E3E"/>
                </a:solidFill>
              </a:rPr>
              <a:t>AS-IS (Current State)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</a:rPr>
              <a:t>• CSM manually reviews accounts (Mon morning, 4hrs)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</a:rPr>
              <a:t>• Pulls data from 3 separate spreadsheets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</a:rPr>
              <a:t>• No standardized risk criteria — gut feel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204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</a:rPr>
              <a:t>• Churn risk only noticed after cancel intent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</a:rPr>
              <a:t>• Informal escalation via email chain (no SLA)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09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</a:rPr>
              <a:t>• No audit trail, no visibility for CS Director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143000"/>
            <a:ext cx="5669280" cy="5029200"/>
          </a:xfrm>
          <a:prstGeom prst="rect">
            <a:avLst/>
          </a:prstGeom>
          <a:solidFill>
            <a:srgbClr val="F0FFF4"/>
          </a:solidFill>
          <a:ln w="1270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A169"/>
                </a:solidFill>
              </a:rPr>
              <a:t>TO-BE (BridgeIQ)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7373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</a:rPr>
              <a:t>• Daily automated health score (6 signals, no manual effort)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3317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</a:rPr>
              <a:t>• Single unified dashboard — one source of truth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9260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</a:rPr>
              <a:t>• Rule-based composite risk scoring with thresholds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5204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</a:rPr>
              <a:t>• Proactive Slack alert sent BEFORE customer churns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1148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</a:rPr>
              <a:t>• Structured escalation with SLA timer &amp; audit 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7091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2A"/>
                </a:solidFill>
              </a:rPr>
              <a:t>• Weekly AI-generated insight report from ticket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2918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F8EF7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Requirements — User Stories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F8EF7"/>
                </a:solidFill>
              </a:rPr>
              <a:t>15 sprint-ready stories across 5 epics | Jira-importable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BridgeIQ — AI-Powered Business Intelligence &amp; Process Transformation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105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</a:rPr>
              <a:t>Slide 6 / 10  |  Apex Solutions  |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2148840" cy="4389120"/>
          </a:xfrm>
          <a:prstGeom prst="rect">
            <a:avLst/>
          </a:prstGeom>
          <a:noFill/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214884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98448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Customer 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US-01 to US-02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40280"/>
            <a:ext cx="1965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D6D7E"/>
                </a:solidFill>
              </a:rPr>
              <a:t>Risk score dashboard, automated Slack alerts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074920"/>
            <a:ext cx="196596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1206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3A5C"/>
                </a:solidFill>
              </a:rPr>
              <a:t>5 pts story pts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06624" y="1280160"/>
            <a:ext cx="2148840" cy="4389120"/>
          </a:xfrm>
          <a:prstGeom prst="rect">
            <a:avLst/>
          </a:prstGeom>
          <a:noFill/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06624" y="1280160"/>
            <a:ext cx="2148840" cy="4572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98064" y="1298448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Onboarding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98064" y="18288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8EF7"/>
                </a:solidFill>
              </a:rPr>
              <a:t>US-03 to US-04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98064" y="2240280"/>
            <a:ext cx="1965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D6D7E"/>
                </a:solidFill>
              </a:rPr>
              <a:t>Stage tracker, self-service checklist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98064" y="5074920"/>
            <a:ext cx="196596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98064" y="51206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F8EF7"/>
                </a:solidFill>
              </a:rPr>
              <a:t>13 pts story pts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47488" y="1280160"/>
            <a:ext cx="2148840" cy="4389120"/>
          </a:xfrm>
          <a:prstGeom prst="rect">
            <a:avLst/>
          </a:prstGeom>
          <a:noFill/>
          <a:ln w="12700">
            <a:solidFill>
              <a:srgbClr val="2E8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47488" y="1280160"/>
            <a:ext cx="2148840" cy="457200"/>
          </a:xfrm>
          <a:prstGeom prst="rect">
            <a:avLst/>
          </a:prstGeom>
          <a:solidFill>
            <a:srgbClr val="2E8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38928" y="1298448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38928" y="18288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5F"/>
                </a:solidFill>
              </a:rPr>
              <a:t>US-05 to US-06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38928" y="2240280"/>
            <a:ext cx="1965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D6D7E"/>
                </a:solidFill>
              </a:rPr>
              <a:t>Support dashboard, automated status updates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38928" y="5074920"/>
            <a:ext cx="196596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2E8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38928" y="51206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865F"/>
                </a:solidFill>
              </a:rPr>
              <a:t>11 pts story pts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88352" y="1280160"/>
            <a:ext cx="2148840" cy="4389120"/>
          </a:xfrm>
          <a:prstGeom prst="rect">
            <a:avLst/>
          </a:prstGeom>
          <a:noFill/>
          <a:ln w="12700">
            <a:solidFill>
              <a:srgbClr val="D69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88352" y="1280160"/>
            <a:ext cx="2148840" cy="457200"/>
          </a:xfrm>
          <a:prstGeom prst="rect">
            <a:avLst/>
          </a:prstGeom>
          <a:solidFill>
            <a:srgbClr val="D69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79792" y="1298448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Analytics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18288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69300"/>
                </a:solidFill>
              </a:rPr>
              <a:t>US-07 to US-10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2240280"/>
            <a:ext cx="1965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D6D7E"/>
                </a:solidFill>
              </a:rPr>
              <a:t>Executive report, filter panel, MRR-at-risk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79792" y="5074920"/>
            <a:ext cx="196596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D69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79792" y="51206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69300"/>
                </a:solidFill>
              </a:rPr>
              <a:t>16 pts story pts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29216" y="1280160"/>
            <a:ext cx="2148840" cy="4389120"/>
          </a:xfrm>
          <a:prstGeom prst="rect">
            <a:avLst/>
          </a:prstGeom>
          <a:noFill/>
          <a:ln w="12700">
            <a:solidFill>
              <a:srgbClr val="7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729216" y="1280160"/>
            <a:ext cx="2148840" cy="45720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20656" y="1298448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AI Features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0656" y="18288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B2D8B"/>
                </a:solidFill>
              </a:rPr>
              <a:t>US-08 to US-09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0656" y="2240280"/>
            <a:ext cx="1965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D6D7E"/>
                </a:solidFill>
              </a:rPr>
              <a:t>Feedback analyzer, requirements generator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20656" y="5074920"/>
            <a:ext cx="196596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7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20656" y="51206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B2D8B"/>
                </a:solidFill>
              </a:rPr>
              <a:t>16 pts story pts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5989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D6D7E"/>
                </a:solidFill>
              </a:rPr>
              <a:t>All user stories include: Acceptance Criteria (Given/When/Then) | MoSCoW Priority | Story Point Estimate | UAT Test Cases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F8EF7"/>
                </a:solidFill>
              </a:rPr>
              <a:t>CS background advantage — bridging data, AI, and business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BridgeIQ — AI-Powered Business Intelligence &amp; Process Transformation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105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</a:rPr>
              <a:t>Slide 7 / 10  |  Apex Solutions  |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2743200" cy="3657600"/>
          </a:xfrm>
          <a:prstGeom prst="rect">
            <a:avLst/>
          </a:prstGeom>
          <a:solidFill>
            <a:srgbClr val="F0F4FF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274320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307592"/>
            <a:ext cx="2523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901952"/>
            <a:ext cx="252374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D6D7E"/>
                </a:solidFill>
              </a:rPr>
              <a:t>SQLite / PostgreSQL
6 tables | 15K+ rows
Faker-generated synthetic data
ERD documented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280160"/>
            <a:ext cx="2743200" cy="3657600"/>
          </a:xfrm>
          <a:prstGeom prst="rect">
            <a:avLst/>
          </a:prstGeom>
          <a:solidFill>
            <a:srgbClr val="F0F4FF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280160"/>
            <a:ext cx="2743200" cy="50292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8" y="1307592"/>
            <a:ext cx="2523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Analytics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1901952"/>
            <a:ext cx="252374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D6D7E"/>
                </a:solidFill>
              </a:rPr>
              <a:t>10 SQL queries
KPI Overview | Churn Analysis
Revenue Trends | At-Risk Scoring
Cohort Retention | Usage Analysis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280160"/>
            <a:ext cx="2743200" cy="3657600"/>
          </a:xfrm>
          <a:prstGeom prst="rect">
            <a:avLst/>
          </a:prstGeom>
          <a:solidFill>
            <a:srgbClr val="F0F4FF"/>
          </a:solidFill>
          <a:ln w="12700">
            <a:solidFill>
              <a:srgbClr val="2E8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280160"/>
            <a:ext cx="2743200" cy="502920"/>
          </a:xfrm>
          <a:prstGeom prst="rect">
            <a:avLst/>
          </a:prstGeom>
          <a:solidFill>
            <a:srgbClr val="2E8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1307592"/>
            <a:ext cx="2523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1901952"/>
            <a:ext cx="252374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D6D7E"/>
                </a:solidFill>
              </a:rPr>
              <a:t>Claude Haiku API
Feedback analysis
Requirements generation
User story drafting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60" y="1280160"/>
            <a:ext cx="2743200" cy="3657600"/>
          </a:xfrm>
          <a:prstGeom prst="rect">
            <a:avLst/>
          </a:prstGeom>
          <a:solidFill>
            <a:srgbClr val="F0F4FF"/>
          </a:solidFill>
          <a:ln w="12700">
            <a:solidFill>
              <a:srgbClr val="D69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81160" y="1280160"/>
            <a:ext cx="2743200" cy="502920"/>
          </a:xfrm>
          <a:prstGeom prst="rect">
            <a:avLst/>
          </a:prstGeom>
          <a:solidFill>
            <a:srgbClr val="D69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90888" y="1307592"/>
            <a:ext cx="2523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Presentation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1901952"/>
            <a:ext cx="252374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D6D7E"/>
                </a:solidFill>
              </a:rPr>
              <a:t>Streamlit + Plotly
Executive Dashboard
3-page live app
Deployed on Streamlit Cloud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2120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D6D7E"/>
                </a:solidFill>
              </a:rPr>
              <a:t>Tools: Python 3.11 | SQLite | Anthropic SDK | Streamlit | Plotly | python-docx | python-pptx | Faker | Pandas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Success Metrics &amp;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F8EF7"/>
                </a:solidFill>
              </a:rPr>
              <a:t>Measurable targets with defined baselines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BridgeIQ — AI-Powered Business Intelligence &amp; Process Transformation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105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</a:rPr>
              <a:t>Slide 8 / 10  |  Apex Solutions  |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2743200" cy="1965960"/>
          </a:xfrm>
          <a:prstGeom prst="rect">
            <a:avLst/>
          </a:prstGeom>
          <a:solidFill>
            <a:srgbClr val="F0F4FF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32588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</a:rPr>
              <a:t>Churn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67335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3E3E"/>
                </a:solidFill>
              </a:rPr>
              <a:t>22%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691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D6D7E"/>
                </a:solidFill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67335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A169"/>
                </a:solidFill>
              </a:rPr>
              <a:t>≤ 14%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697480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38A169"/>
                </a:solidFill>
              </a:rPr>
              <a:t>-8pts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234440"/>
            <a:ext cx="2743200" cy="1965960"/>
          </a:xfrm>
          <a:prstGeom prst="rect">
            <a:avLst/>
          </a:prstGeom>
          <a:solidFill>
            <a:srgbClr val="F0F4FF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5848" y="132588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</a:rPr>
              <a:t>Onboarding Done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167335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3E3E"/>
                </a:solidFill>
              </a:rPr>
              <a:t>82%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691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D6D7E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167335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A169"/>
                </a:solidFill>
              </a:rPr>
              <a:t>≥ 95%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2697480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38A169"/>
                </a:solidFill>
              </a:rPr>
              <a:t>+13pts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234440"/>
            <a:ext cx="2743200" cy="1965960"/>
          </a:xfrm>
          <a:prstGeom prst="rect">
            <a:avLst/>
          </a:prstGeom>
          <a:solidFill>
            <a:srgbClr val="F0F4FF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132588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</a:rPr>
              <a:t>Ticket Resolution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167335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3E3E"/>
                </a:solidFill>
              </a:rPr>
              <a:t>28 hrs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1691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D6D7E"/>
                </a:solidFill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167335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A169"/>
                </a:solidFill>
              </a:rPr>
              <a:t>≤ 17 hrs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2697480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38A169"/>
                </a:solidFill>
              </a:rPr>
              <a:t>-39%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89720" y="1234440"/>
            <a:ext cx="2743200" cy="1965960"/>
          </a:xfrm>
          <a:prstGeom prst="rect">
            <a:avLst/>
          </a:prstGeom>
          <a:solidFill>
            <a:srgbClr val="F0F4FF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9448" y="132588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</a:rPr>
              <a:t>SLA Breach (Critical)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9448" y="167335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3E3E"/>
                </a:solidFill>
              </a:rPr>
              <a:t>35%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1691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D6D7E"/>
                </a:solidFill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167335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A169"/>
                </a:solidFill>
              </a:rPr>
              <a:t>≤ 10%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9448" y="2697480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38A169"/>
                </a:solidFill>
              </a:rPr>
              <a:t>-25pts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520440"/>
            <a:ext cx="2743200" cy="1965960"/>
          </a:xfrm>
          <a:prstGeom prst="rect">
            <a:avLst/>
          </a:prstGeom>
          <a:solidFill>
            <a:srgbClr val="F0F4FF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361188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</a:rPr>
              <a:t>At-Risk ID 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" y="395935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3E3E"/>
                </a:solidFill>
              </a:rPr>
              <a:t>7-14 days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39776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D6D7E"/>
                </a:solidFill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83080" y="395935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A169"/>
                </a:solidFill>
              </a:rPr>
              <a:t>&lt; 24 hrs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4983480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38A169"/>
                </a:solidFill>
              </a:rPr>
              <a:t>Automated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46120" y="3520440"/>
            <a:ext cx="2743200" cy="1965960"/>
          </a:xfrm>
          <a:prstGeom prst="rect">
            <a:avLst/>
          </a:prstGeom>
          <a:solidFill>
            <a:srgbClr val="F0F4FF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55848" y="361188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</a:rPr>
              <a:t>CSM Manual Work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55848" y="395935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3E3E"/>
                </a:solidFill>
              </a:rPr>
              <a:t>4 hrs/wk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39776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D6D7E"/>
                </a:solidFill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79" y="395935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A169"/>
                </a:solidFill>
              </a:rPr>
              <a:t>&lt; 30 min/wk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55848" y="4983480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38A169"/>
                </a:solidFill>
              </a:rPr>
              <a:t>-88%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3520440"/>
            <a:ext cx="2743200" cy="1965960"/>
          </a:xfrm>
          <a:prstGeom prst="rect">
            <a:avLst/>
          </a:prstGeom>
          <a:solidFill>
            <a:srgbClr val="F0F4FF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27648" y="361188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</a:rPr>
              <a:t>MRR Protected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7648" y="395935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3E3E"/>
                </a:solidFill>
              </a:rPr>
              <a:t>$0 tracked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52360" y="39776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D6D7E"/>
                </a:solidFill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26679" y="395935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A169"/>
                </a:solidFill>
              </a:rPr>
              <a:t>+$180K ARR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27648" y="4983480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38A169"/>
                </a:solidFill>
              </a:rPr>
              <a:t>New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89720" y="3520440"/>
            <a:ext cx="2743200" cy="1965960"/>
          </a:xfrm>
          <a:prstGeom prst="rect">
            <a:avLst/>
          </a:prstGeom>
          <a:solidFill>
            <a:srgbClr val="F0F4FF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99448" y="361188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</a:rPr>
              <a:t>NPS Score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99448" y="395935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3E3E"/>
                </a:solidFill>
              </a:rPr>
              <a:t>6.8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24160" y="39776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D6D7E"/>
                </a:solidFill>
              </a:rP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98480" y="395935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A169"/>
                </a:solidFill>
              </a:rPr>
              <a:t>≥ 8.0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99448" y="4983480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38A169"/>
                </a:solidFill>
              </a:rPr>
              <a:t>+1.2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This Demonstrates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F8EF7"/>
                </a:solidFill>
              </a:rPr>
              <a:t>A Technical BA who bridges both worlds — business and technology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BridgeIQ — AI-Powered Business Intelligence &amp; Process Transformation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5105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</a:rPr>
              <a:t>Slide 9 / 10  |  Apex Solutions  |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3749039" cy="4937760"/>
          </a:xfrm>
          <a:prstGeom prst="rect">
            <a:avLst/>
          </a:prstGeom>
          <a:noFill/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3749039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261872"/>
            <a:ext cx="35295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Business 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81051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</a:rPr>
              <a:t>• Business Requirements Document (BRD) — 11 sections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40487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</a:rPr>
              <a:t>• Stakeholder Analysis &amp; RACI Matrix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99923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</a:rPr>
              <a:t>• Process Mapping — AS-IS / TO-BE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59359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</a:rPr>
              <a:t>• 15 Agile User Stories with Acceptance Criteria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418795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</a:rPr>
              <a:t>• Risk Register with mitigation strategies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478231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</a:rPr>
              <a:t>• UAT Test Cases and sign-off framework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537667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</a:rPr>
              <a:t>• Executive-level KPI reporting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59" y="1234440"/>
            <a:ext cx="3749039" cy="4937760"/>
          </a:xfrm>
          <a:prstGeom prst="rect">
            <a:avLst/>
          </a:prstGeom>
          <a:noFill/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59" y="1234440"/>
            <a:ext cx="3749039" cy="4572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1688" y="1261872"/>
            <a:ext cx="35295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Technical Skills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181051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</a:rPr>
              <a:t>• Data modeling — 6-table SQLite schema + ERD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40487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</a:rPr>
              <a:t>• 10+ SQL queries (window functions, CTEs, cohort analysis)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99923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</a:rPr>
              <a:t>• Python — data generation, doc building, API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59359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</a:rPr>
              <a:t>• Claude AI API — NLP, requirements generation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18795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</a:rPr>
              <a:t>• Streamlit — multi-page web application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78231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</a:rPr>
              <a:t>• Plotly — interactive dashboards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37667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</a:rPr>
              <a:t>• Git &amp; GitHub — version-controlled project repo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1234440"/>
            <a:ext cx="3749039" cy="4937760"/>
          </a:xfrm>
          <a:prstGeom prst="rect">
            <a:avLst/>
          </a:prstGeom>
          <a:noFill/>
          <a:ln w="12700">
            <a:solidFill>
              <a:srgbClr val="2E8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1234440"/>
            <a:ext cx="3749039" cy="457200"/>
          </a:xfrm>
          <a:prstGeom prst="rect">
            <a:avLst/>
          </a:prstGeom>
          <a:solidFill>
            <a:srgbClr val="2E8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9327" y="1261872"/>
            <a:ext cx="35295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 Literacy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181051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</a:rPr>
              <a:t>• Prompt engineering — structured AI output formats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240487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</a:rPr>
              <a:t>• AI tool in the workflow — draft → review → refine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299923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</a:rPr>
              <a:t>• AI-generated requirements with human validation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359359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</a:rPr>
              <a:t>• Understanding AI limitations (hallucination, bias)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18795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</a:rPr>
              <a:t>• AI as business process component — not just a tool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478231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</a:rPr>
              <a:t>• Responsible AI output labeling in deliverables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54864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94457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Explore BridgeIQ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37360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F8EF7"/>
                </a:solidFill>
              </a:rPr>
              <a:t>Live app · Full source code · All documentation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017520"/>
            <a:ext cx="2926080" cy="1645920"/>
          </a:xfrm>
          <a:prstGeom prst="rect">
            <a:avLst/>
          </a:prstGeom>
          <a:solidFill>
            <a:srgbClr val="2A4A7C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31089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5478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F8EF7"/>
                </a:solidFill>
              </a:rPr>
              <a:t>Streamlit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39319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D6D7E"/>
                </a:solidFill>
              </a:rPr>
              <a:t>share.streamlit.io/gtrhemanth/bridgeiq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3017520"/>
            <a:ext cx="2926080" cy="1645920"/>
          </a:xfrm>
          <a:prstGeom prst="rect">
            <a:avLst/>
          </a:prstGeom>
          <a:solidFill>
            <a:srgbClr val="2A4A7C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31089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Source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5478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F8EF7"/>
                </a:solidFill>
              </a:rPr>
              <a:t>GitHub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9319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D6D7E"/>
                </a:solidFill>
              </a:rPr>
              <a:t>github.com/gtrhemanth/BridgeIQ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3017520"/>
            <a:ext cx="2926080" cy="1645920"/>
          </a:xfrm>
          <a:prstGeom prst="rect">
            <a:avLst/>
          </a:prstGeom>
          <a:solidFill>
            <a:srgbClr val="2A4A7C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1089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Documentation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5478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F8EF7"/>
                </a:solidFill>
              </a:rPr>
              <a:t>Full BRD + Docs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39319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D6D7E"/>
                </a:solidFill>
              </a:rPr>
              <a:t>github.com/gtrhemanth/BridgeIQ/docs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Sai Hemanth  |  gtrhemanth14@gmail.com  |  github.com/gtrhemanth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577840"/>
            <a:ext cx="9445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F8EF7"/>
                </a:solidFill>
              </a:rPr>
              <a:t>Technical Business Analyst | AI/ML &amp; Data Science | IEEE-Published Researcher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BridgeIQ — AI-Powered Business Intelligence &amp; Process Transformation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65105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</a:rPr>
              <a:t>Slide 10 / 10  |  Apex Solutions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